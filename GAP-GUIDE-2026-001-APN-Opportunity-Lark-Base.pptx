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n-kt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0"/>
            <a:ext cx="616305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-asiapacific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051560"/>
            <a:ext cx="54864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OFFICIAL DOCUMENTATION  ·  V1.1  ·  ISSUED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20116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600" b="1">
                <a:solidFill>
                  <a:srgbClr val="FFFBF7"/>
                </a:solidFill>
                <a:latin typeface="Calibri"/>
              </a:rPr>
              <a:t>APN Opportunity — Lark Base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5669280" cy="12801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E8DFD2"/>
                </a:solidFill>
                <a:latin typeface="Calibri"/>
              </a:rPr>
              <a:t>From 18 September 2026, type the opportunity in Lark. Lark still sends it to APN. Do not create a live customer opportunity until then.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12080"/>
            <a:ext cx="566928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E87722"/>
                </a:solidFill>
                <a:latin typeface="Calibri"/>
              </a:rPr>
              <a:t>GAP sales  ·  Malaysia, Indonesia, Vietnam
Knowledge Transfer 14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C8C0B4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n-kt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640080"/>
            <a:ext cx="62179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WHY 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051560"/>
            <a:ext cx="621792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A different door into the same APN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286000"/>
            <a:ext cx="6217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AWS launched a new APN. That new APN has limits for our team.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You type the opportunity in Lark. Lark still sends it to APN.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You are not keeping a second set of 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WHAT YOU WILL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Only Submission is typed. Ignore Client management and funding.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663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APN Oppt Submission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16636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5A564E"/>
                </a:solidFill>
                <a:latin typeface="Calibri"/>
              </a:rPr>
              <a:t>The only table you type into. Draft with Grid + Add Record. Send from Form. Watch Sync_Status on 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51663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APN Oppt Status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516636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5A564E"/>
                </a:solidFill>
                <a:latin typeface="Calibri"/>
              </a:rPr>
              <a:t>View only. Check AWS_Review_Status and deadlines. Do not add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663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516636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5A564E"/>
                </a:solidFill>
                <a:latin typeface="Calibri"/>
              </a:rPr>
              <a:t>Process guide in the APN folder if you forget a 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03320"/>
            <a:ext cx="5623560" cy="22860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51663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APN AWS Invitations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663440"/>
            <a:ext cx="516636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5A564E"/>
                </a:solidFill>
                <a:latin typeface="Calibri"/>
              </a:rPr>
              <a:t>Sales admin (Vietnam and Indonesia). Referral accept / reject. Extra for 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WHICH JOB?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Pick one path. Do not mix Form, Add Record send, Retry, and Update.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246888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57400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E87722"/>
                </a:solidFill>
                <a:latin typeface="Calibri"/>
              </a:rPr>
              <a:t>Every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14600"/>
            <a:ext cx="2468880" cy="1920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5A564E"/>
                </a:solidFill>
                <a:latin typeface="Calibri"/>
              </a:rPr>
              <a:t>Grid → + Add Record
Leave Submit unticked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DF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46888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Send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E87722"/>
                </a:solidFill>
                <a:latin typeface="Calibri"/>
              </a:rPr>
              <a:t>Every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2468880" cy="1920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5A564E"/>
                </a:solidFill>
                <a:latin typeface="Calibri"/>
              </a:rPr>
              <a:t>Form → Submit
or tick Submit on a draft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71600"/>
            <a:ext cx="246888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E87722"/>
                </a:solidFill>
                <a:latin typeface="Calibri"/>
              </a:rPr>
              <a:t>Every 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14600"/>
            <a:ext cx="2468880" cy="1920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5A564E"/>
                </a:solidFill>
                <a:latin typeface="Calibri"/>
              </a:rPr>
              <a:t>Only if Status is Approved
Grid →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118872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1371600"/>
            <a:ext cx="246888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FFFBF7"/>
                </a:solidFill>
                <a:latin typeface="Calibri"/>
              </a:rPr>
              <a:t>Referral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057400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1">
                <a:solidFill>
                  <a:srgbClr val="E87722"/>
                </a:solidFill>
                <a:latin typeface="Calibri"/>
              </a:rPr>
              <a:t>Sales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514600"/>
            <a:ext cx="2468880" cy="19202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E8DFD2"/>
                </a:solidFill>
                <a:latin typeface="Calibri"/>
              </a:rPr>
              <a:t>Invitations table
No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5A564E"/>
                </a:solidFill>
                <a:latin typeface="Calibri"/>
              </a:rPr>
              <a:t>Sales admin for referrals: Michael Nguyen (Vietnam) and Alvindo (Indonesia).</a:t>
            </a:r>
          </a:p>
        </p:txBody>
      </p:sp>
      <p:pic>
        <p:nvPicPr>
          <p:cNvPr id="22" name="Picture 21" descr="apn-kt-three-do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983480"/>
            <a:ext cx="210312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DRAFT — GRID + ADD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585216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Click + Add Record. Leave Submit off.</a:t>
            </a:r>
          </a:p>
        </p:txBody>
      </p:sp>
      <p:pic>
        <p:nvPicPr>
          <p:cNvPr id="5" name="Picture 4" descr="guide-grid-add-rec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537960" cy="3657600"/>
          </a:xfrm>
          <a:prstGeom prst="rect">
            <a:avLst/>
          </a:prstGeom>
        </p:spPr>
      </p:pic>
      <p:pic>
        <p:nvPicPr>
          <p:cNvPr id="6" name="Picture 5" descr="guide-add-record-butt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983480"/>
            <a:ext cx="6537960" cy="1325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234440"/>
            <a:ext cx="466344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344168"/>
            <a:ext cx="4297680" cy="685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1C2430"/>
                </a:solidFill>
                <a:latin typeface="Calibri"/>
              </a:rPr>
              <a:t>Open Submission →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167128"/>
            <a:ext cx="466344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276856"/>
            <a:ext cx="4297680" cy="685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1C2430"/>
                </a:solidFill>
                <a:latin typeface="Calibri"/>
              </a:rPr>
              <a:t>Click + Add Record on the toolbar. Not + New under the table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099816"/>
            <a:ext cx="466344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209544"/>
            <a:ext cx="4297680" cy="685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1C2430"/>
                </a:solidFill>
                <a:latin typeface="Calibri"/>
              </a:rPr>
              <a:t>Fill the row. Leave Action as Create.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4032504"/>
            <a:ext cx="466344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4142232"/>
            <a:ext cx="4297680" cy="685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1C2430"/>
                </a:solidFill>
                <a:latin typeface="Calibri"/>
              </a:rPr>
              <a:t>Leave Submit and Submit_to_AWS unticked. Sync_Status empty = draft. AWS has not received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4965192"/>
            <a:ext cx="4663440" cy="868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5074920"/>
            <a:ext cx="4297680" cy="685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1C2430"/>
                </a:solidFill>
                <a:latin typeface="Calibri"/>
              </a:rPr>
              <a:t>When ready: tick both. Set Pending if it does not move. Keep Action = Create.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SEND NOW —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One-shot Create. Fill, then Submit.</a:t>
            </a:r>
          </a:p>
        </p:txBody>
      </p:sp>
      <p:pic>
        <p:nvPicPr>
          <p:cNvPr id="5" name="Picture 4" descr="guide-form-f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309360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03720" y="1143000"/>
            <a:ext cx="4846320" cy="1097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252728"/>
            <a:ext cx="452628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581912"/>
            <a:ext cx="4526280" cy="56692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5A564E"/>
                </a:solidFill>
                <a:latin typeface="Calibri"/>
              </a:rPr>
              <a:t>Use Fill, not Edit. Fill required fields. Follow the format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350008"/>
            <a:ext cx="4846320" cy="1097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459736"/>
            <a:ext cx="452628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788920"/>
            <a:ext cx="4526280" cy="56692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5A564E"/>
                </a:solidFill>
                <a:latin typeface="Calibri"/>
              </a:rPr>
              <a:t>Click Submit. Then open Grid.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557016"/>
            <a:ext cx="4846320" cy="10972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666744"/>
            <a:ext cx="452628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Wait one minute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995928"/>
            <a:ext cx="4526280" cy="56692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5A564E"/>
                </a:solidFill>
                <a:latin typeface="Calibri"/>
              </a:rPr>
              <a:t>Sync_Status: Pending becomes Success or Failed.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764024"/>
            <a:ext cx="4846320" cy="1097280"/>
          </a:xfrm>
          <a:prstGeom prst="roundRect">
            <a:avLst>
              <a:gd name="adj" fmla="val 8000"/>
            </a:avLst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4873752"/>
            <a:ext cx="4526280" cy="29260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If 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5202936"/>
            <a:ext cx="4526280" cy="566928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5A564E"/>
                </a:solidFill>
                <a:latin typeface="Calibri"/>
              </a:rPr>
              <a:t>Side Peek → Sync_Message → fix that field → Retry. Leave Action = Create. Do not click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Only if Status is Approved. Do not type in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703320" cy="2377440"/>
          </a:xfrm>
          <a:prstGeom prst="roundRect">
            <a:avLst>
              <a:gd name="adj" fmla="val 8000"/>
            </a:avLst>
          </a:prstGeom>
          <a:solidFill>
            <a:srgbClr val="DF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71600"/>
            <a:ext cx="32918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F7A3A"/>
                </a:solidFill>
                <a:latin typeface="Calibri"/>
              </a:rPr>
              <a:t>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20240"/>
            <a:ext cx="329184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Approved. Edit on Submission. Click Update. Leave Action as Update.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703320" cy="2377440"/>
          </a:xfrm>
          <a:prstGeom prst="roundRect">
            <a:avLst>
              <a:gd name="adj" fmla="val 8000"/>
            </a:avLst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71600"/>
            <a:ext cx="32918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E87722"/>
                </a:solidFill>
                <a:latin typeface="Calibri"/>
              </a:rPr>
              <a:t>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20240"/>
            <a:ext cx="329184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Pending submission. Do not Update. Wait on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703320" cy="2377440"/>
          </a:xfrm>
          <a:prstGeom prst="roundRect">
            <a:avLst>
              <a:gd name="adj" fmla="val 8000"/>
            </a:avLst>
          </a:prstGeom>
          <a:solidFill>
            <a:srgbClr val="FF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7" y="1371600"/>
            <a:ext cx="32918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B42318"/>
                </a:solidFill>
                <a:latin typeface="Calibri"/>
              </a:rPr>
              <a:t>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7" y="1920240"/>
            <a:ext cx="329184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Create still Failed. Retry first. Do not 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40480"/>
            <a:ext cx="6949440" cy="2194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64922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If Update then 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6492240" cy="12801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5A564E"/>
                </a:solidFill>
                <a:latin typeface="Calibri"/>
              </a:rPr>
              <a:t>Read Sync_Message. Fix that field. Click Update again. Do not click Retry on an Update.</a:t>
            </a:r>
          </a:p>
        </p:txBody>
      </p:sp>
      <p:pic>
        <p:nvPicPr>
          <p:cNvPr id="17" name="Picture 16" descr="apn-kt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0"/>
            <a:ext cx="4160520" cy="2194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REFERRAL — SALES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No Form. The invitation row already exists.</a:t>
            </a:r>
          </a:p>
        </p:txBody>
      </p:sp>
      <p:pic>
        <p:nvPicPr>
          <p:cNvPr id="5" name="Picture 4" descr="apn-kt-refer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0292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23560" y="1188720"/>
            <a:ext cx="6126480" cy="7132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353312"/>
            <a:ext cx="5715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Open APN AWS Invitations.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65960"/>
            <a:ext cx="6126480" cy="7132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130552"/>
            <a:ext cx="5715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Find the row (country + engagement title).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743200"/>
            <a:ext cx="6126480" cy="7132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907792"/>
            <a:ext cx="5715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Set Decision to Accept (or Reject).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3520440"/>
            <a:ext cx="6126480" cy="7132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685032"/>
            <a:ext cx="5715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Set Assignee to the account manager.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4297680"/>
            <a:ext cx="6126480" cy="7132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462272"/>
            <a:ext cx="5715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Set Sync_Status to Pending. Then wait.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5074920"/>
            <a:ext cx="6126480" cy="7132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5239512"/>
            <a:ext cx="5715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AWS_Opportunity_ID appears. Status still takes about six hours.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TWO CLOCKS AND BUTTONS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Draft with ticks off does not start the 1-minute clock.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After Form Submit 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4800" b="1">
                <a:solidFill>
                  <a:srgbClr val="FFFBF7"/>
                </a:solidFill>
                <a:latin typeface="Calibri"/>
              </a:rPr>
              <a:t>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0292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E8DFD2"/>
                </a:solidFill>
                <a:latin typeface="Calibri"/>
              </a:rPr>
              <a:t>Look at Submission → Sync_Status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5156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After Success 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4800" b="1">
                <a:solidFill>
                  <a:srgbClr val="FFFBF7"/>
                </a:solidFill>
                <a:latin typeface="Calibri"/>
              </a:rPr>
              <a:t>6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0292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E8DFD2"/>
                </a:solidFill>
                <a:latin typeface="Calibri"/>
              </a:rPr>
              <a:t>Look at Status → AWS_Review_Status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52044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85032"/>
            <a:ext cx="56692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FFFBF7"/>
                </a:solidFill>
                <a:latin typeface="Calibri"/>
              </a:rPr>
              <a:t>If this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85032"/>
            <a:ext cx="23774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FFFBF7"/>
                </a:solidFill>
                <a:latin typeface="Calibri"/>
              </a:rPr>
              <a:t>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685032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FFFBF7"/>
                </a:solidFill>
                <a:latin typeface="Calibri"/>
              </a:rPr>
              <a:t>Leave Action 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0624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70832"/>
            <a:ext cx="56692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New Form submit 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70832"/>
            <a:ext cx="23774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Retry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370832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9204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56632"/>
            <a:ext cx="56692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Approved opportunity needs a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56632"/>
            <a:ext cx="23774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056632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57784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742432"/>
            <a:ext cx="56692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Update then 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42432"/>
            <a:ext cx="23774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Update again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742432"/>
            <a:ext cx="2468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1C2430"/>
                </a:solidFill>
                <a:latin typeface="Calibri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FORMAT — WHY ROWS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Read Sync_Message and fix that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4206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4612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Problem ≥ 20 characters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246120" cy="1828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5A564E"/>
                </a:solidFill>
                <a:latin typeface="Calibri"/>
              </a:rPr>
              <a:t>Customer need must be a real sentence or Sync_Status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703320" cy="4206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24612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Phone E.164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926080"/>
            <a:ext cx="3246120" cy="1828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5A564E"/>
                </a:solidFill>
                <a:latin typeface="Calibri"/>
              </a:rPr>
              <a:t>+601121555525  — plus, country code, no spaces.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80160"/>
            <a:ext cx="3703320" cy="4206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600200"/>
            <a:ext cx="324612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Launched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9" y="2926080"/>
            <a:ext cx="3246120" cy="1828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5A564E"/>
                </a:solidFill>
                <a:latin typeface="Calibri"/>
              </a:rPr>
              <a:t>You must have AWS Account ID. Missing ID = Failed.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n-kt-go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54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576072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EXISTING OPPORTUNITIES AND GO-LIVE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760720" cy="12801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600" b="1">
                <a:solidFill>
                  <a:srgbClr val="FFFBF7"/>
                </a:solidFill>
                <a:latin typeface="Calibri"/>
              </a:rPr>
              <a:t>18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8DFD2"/>
                </a:solidFill>
                <a:latin typeface="Calibri"/>
              </a:rPr>
              <a:t>Open opportunities from 2025 to now will be moved into this Base. Do not recreate those deals.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FBF7"/>
                </a:solidFill>
                <a:latin typeface="Calibri"/>
              </a:rPr>
              <a:t>All GAP sales use this Lark Base from 18 September.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8DFD2"/>
                </a:solidFill>
                <a:latin typeface="Calibri"/>
              </a:rPr>
              <a:t>Until then you may practise Add Record. Do not tick Submit on a real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C8C0B4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256032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1">
                <a:solidFill>
                  <a:srgbClr val="E87722"/>
                </a:solidFill>
                <a:latin typeface="Calibri"/>
              </a:rPr>
              <a:t>IF YOU ARE STUCK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400" b="1">
                <a:solidFill>
                  <a:srgbClr val="1B2A4A"/>
                </a:solidFill>
                <a:latin typeface="Calibri"/>
              </a:rPr>
              <a:t>Error, bug, or unclear Sync_Message?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623560" cy="42062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APN TroubleShoot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21208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FFBF7"/>
                </a:solidFill>
                <a:latin typeface="Calibri"/>
              </a:rPr>
              <a:t>Ask in this group. Always send three things: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BF7"/>
                </a:solidFill>
                <a:latin typeface="Calibri"/>
              </a:rPr>
              <a:t>Your Oppt ID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BF7"/>
                </a:solidFill>
                <a:latin typeface="Calibri"/>
              </a:rPr>
              <a:t>Your Status (Sync_Status / AWS_Review_Status)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BF7"/>
                </a:solidFill>
                <a:latin typeface="Calibri"/>
              </a:rPr>
              <a:t>Your Sync_Message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0292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1">
                <a:solidFill>
                  <a:srgbClr val="E87722"/>
                </a:solidFill>
                <a:latin typeface="Calibri"/>
              </a:rPr>
              <a:t>APN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Ask Eylia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+6016-4244515  ·  or Azib / APN champions</a:t>
            </a:r>
          </a:p>
        </p:txBody>
      </p:sp>
      <p:pic>
        <p:nvPicPr>
          <p:cNvPr id="13" name="Picture 12" descr="apn-kt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383280"/>
            <a:ext cx="544068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</a:rPr>
              <a:t>Do not patch AWS_Review_Status by hand.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247120" cy="219456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A8478"/>
                </a:solidFill>
                <a:latin typeface="Calibri"/>
              </a:rPr>
              <a:t>Internal  ·  v1.1  ·  © G-AsiaPacific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