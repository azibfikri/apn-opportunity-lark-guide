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n-k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63056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-asiapacific-logo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5760"/>
            <a:ext cx="1554480" cy="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51560"/>
            <a:ext cx="54864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GAP-GUIDE-2026-001  ·  V1.1  ·  ISSUED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852160" cy="20116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3600" b="1">
                <a:solidFill>
                  <a:srgbClr val="FFFBF7"/>
                </a:solidFill>
                <a:latin typeface="Calibri"/>
              </a:rPr>
              <a:t>APN Opportunity — Lark Base guidelines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5669280" cy="12801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0">
                <a:solidFill>
                  <a:srgbClr val="E8DFD2"/>
                </a:solidFill>
                <a:latin typeface="Calibri"/>
              </a:rPr>
              <a:t>From 18 September 2026, type the opportunity in Lark. Lark still sends it to APN. Do not create a live customer opportunity until then.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12080"/>
            <a:ext cx="5669280" cy="7315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E87722"/>
                </a:solidFill>
                <a:latin typeface="Calibri"/>
              </a:rPr>
              <a:t>GAP sales  ·  Malaysia, Indonesia, Vietnam
Knowledge Transfer 14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C8C0B4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C8C0B4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n-kt-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640080"/>
            <a:ext cx="621792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2. WHY LARK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051560"/>
            <a:ext cx="6217920" cy="10972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800" b="1">
                <a:solidFill>
                  <a:srgbClr val="1B2A4A"/>
                </a:solidFill>
                <a:latin typeface="Calibri"/>
              </a:rPr>
              <a:t>A different door into the same APN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286000"/>
            <a:ext cx="6217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AWS launched a new APN. That new APN has limits for our team.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You type the opportunity in Lark. Lark still sends it to APN.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B2A4A"/>
                </a:solidFill>
                <a:latin typeface="Calibri"/>
              </a:rPr>
              <a:t>You are not keeping a second set of books.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3. WHAT YOU WILL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Only Submission is typed. Ignore Client management and funding.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623560" cy="2286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35608"/>
            <a:ext cx="516636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66360" cy="502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APN Oppt Submission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516636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5A564E"/>
                </a:solidFill>
                <a:latin typeface="Calibri"/>
              </a:rPr>
              <a:t>The only table you type into. Draft with Grid + Add Record. Send from Form. Watch Sync_Status on Grid.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623560" cy="2286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435608"/>
            <a:ext cx="516636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5166360" cy="502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APN Oppt Status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516636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5A564E"/>
                </a:solidFill>
                <a:latin typeface="Calibri"/>
              </a:rPr>
              <a:t>View only. Check AWS_Review_Status and deadlines. Do not add rows.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03320"/>
            <a:ext cx="5623560" cy="2286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04488"/>
            <a:ext cx="516636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5166360" cy="502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754880"/>
            <a:ext cx="516636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5A564E"/>
                </a:solidFill>
                <a:latin typeface="Calibri"/>
              </a:rPr>
              <a:t>Process guide in the APN folder if you forget a click.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623560" cy="2286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904488"/>
            <a:ext cx="516636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206240"/>
            <a:ext cx="5166360" cy="502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APN AWS Invitations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754880"/>
            <a:ext cx="516636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5A564E"/>
                </a:solidFill>
                <a:latin typeface="Calibri"/>
              </a:rPr>
              <a:t>Sales admin (Vietnam and Indonesia). Referral accept / reject. Extra for AMs.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4. WHICH JOB?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4114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000" b="1">
                <a:solidFill>
                  <a:srgbClr val="1B2A4A"/>
                </a:solidFill>
                <a:latin typeface="Calibri"/>
              </a:rPr>
              <a:t>Pick one path. Do not mix Form, Add Record send, Retry, and Update.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71600"/>
            <a:ext cx="2468880" cy="6400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1a  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057400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Every 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514600"/>
            <a:ext cx="2468880" cy="19202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5A564E"/>
                </a:solidFill>
                <a:latin typeface="Calibri"/>
              </a:rPr>
              <a:t>Grid → + Add Record
Leave Submit unticked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1887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DFF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71600"/>
            <a:ext cx="2468880" cy="6400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1b  Send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57400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Every 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14600"/>
            <a:ext cx="2468880" cy="19202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5A564E"/>
                </a:solidFill>
                <a:latin typeface="Calibri"/>
              </a:rPr>
              <a:t>Form → Submit
or tick Submit on a draft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1887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371600"/>
            <a:ext cx="2468880" cy="6400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2 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57400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Every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514600"/>
            <a:ext cx="2468880" cy="19202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5A564E"/>
                </a:solidFill>
                <a:latin typeface="Calibri"/>
              </a:rPr>
              <a:t>Only if Status is Approved
Grid → Update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864" y="118872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3456" y="1371600"/>
            <a:ext cx="2468880" cy="6400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800" b="1">
                <a:solidFill>
                  <a:srgbClr val="FFFBF7"/>
                </a:solidFill>
                <a:latin typeface="Calibri"/>
              </a:rPr>
              <a:t>3  Referral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3456" y="2057400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1">
                <a:solidFill>
                  <a:srgbClr val="E87722"/>
                </a:solidFill>
                <a:latin typeface="Calibri"/>
              </a:rPr>
              <a:t>Sales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514600"/>
            <a:ext cx="2468880" cy="19202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E8DFD2"/>
                </a:solidFill>
                <a:latin typeface="Calibri"/>
              </a:rPr>
              <a:t>Invitations table
No 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5A564E"/>
                </a:solidFill>
                <a:latin typeface="Calibri"/>
              </a:rPr>
              <a:t>Sales admin for referrals: Michael Nguyen (Vietnam) and Alvindo (Indonesia).</a:t>
            </a:r>
          </a:p>
        </p:txBody>
      </p:sp>
      <p:pic>
        <p:nvPicPr>
          <p:cNvPr id="22" name="Picture 21" descr="apn-kt-three-d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983480"/>
            <a:ext cx="2103120" cy="1371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5.2  DRAFT — GRID + ADD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5852160" cy="6400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Click + Add Record. Leave Submit off.</a:t>
            </a:r>
          </a:p>
        </p:txBody>
      </p:sp>
      <p:pic>
        <p:nvPicPr>
          <p:cNvPr id="5" name="Picture 4" descr="guide-grid-add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6537960" cy="3657600"/>
          </a:xfrm>
          <a:prstGeom prst="rect">
            <a:avLst/>
          </a:prstGeom>
        </p:spPr>
      </p:pic>
      <p:pic>
        <p:nvPicPr>
          <p:cNvPr id="6" name="Picture 5" descr="guide-add-record-butt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983480"/>
            <a:ext cx="6537960" cy="1325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086600" y="1234440"/>
            <a:ext cx="4663440" cy="8686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307592"/>
            <a:ext cx="365760" cy="2743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325880"/>
            <a:ext cx="3977639" cy="6858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Open Submission → Grid.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2167128"/>
            <a:ext cx="4663440" cy="8686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240280"/>
            <a:ext cx="365760" cy="2743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258568"/>
            <a:ext cx="3977639" cy="6858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Click + Add Record on the toolbar. Not + New under the table list.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3099816"/>
            <a:ext cx="4663440" cy="8686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3172968"/>
            <a:ext cx="365760" cy="2743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191256"/>
            <a:ext cx="3977639" cy="6858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Fill the row. Leave Action as Create.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4032504"/>
            <a:ext cx="4663440" cy="8686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4105656"/>
            <a:ext cx="365760" cy="2743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123944"/>
            <a:ext cx="3977639" cy="6858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Leave Submit and Submit_to_AWS unticked. Sync_Status empty = draft. AWS has not received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4965192"/>
            <a:ext cx="4663440" cy="8686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5038344"/>
            <a:ext cx="365760" cy="2743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5056632"/>
            <a:ext cx="3977639" cy="6858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1C2430"/>
                </a:solidFill>
                <a:latin typeface="Calibri"/>
              </a:rPr>
              <a:t>When ready: tick both. Set Pending if it does not move. Keep Action = Create.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5.1  SEND NOW —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10972800" cy="502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One-shot Create. Fill, then Submit.</a:t>
            </a:r>
          </a:p>
        </p:txBody>
      </p:sp>
      <p:pic>
        <p:nvPicPr>
          <p:cNvPr id="5" name="Picture 4" descr="guide-form-f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309360" cy="5074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03720" y="1143000"/>
            <a:ext cx="4846320" cy="1097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252728"/>
            <a:ext cx="4526280" cy="29260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1B2A4A"/>
                </a:solidFill>
                <a:latin typeface="Calibri"/>
              </a:rPr>
              <a:t>1 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4526280" cy="56692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5A564E"/>
                </a:solidFill>
                <a:latin typeface="Calibri"/>
              </a:rPr>
              <a:t>Use Fill, not Edit. Fill required fields. Section 9 format.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2350008"/>
            <a:ext cx="4846320" cy="1097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459736"/>
            <a:ext cx="4526280" cy="29260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1B2A4A"/>
                </a:solidFill>
                <a:latin typeface="Calibri"/>
              </a:rPr>
              <a:t>2  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788920"/>
            <a:ext cx="4526280" cy="56692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5A564E"/>
                </a:solidFill>
                <a:latin typeface="Calibri"/>
              </a:rPr>
              <a:t>Click Submit. Then open Grid.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557016"/>
            <a:ext cx="4846320" cy="1097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3666744"/>
            <a:ext cx="4526280" cy="29260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1B2A4A"/>
                </a:solidFill>
                <a:latin typeface="Calibri"/>
              </a:rPr>
              <a:t>3  1 minute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3995928"/>
            <a:ext cx="4526280" cy="56692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5A564E"/>
                </a:solidFill>
                <a:latin typeface="Calibri"/>
              </a:rPr>
              <a:t>Sync_Status: Pending becomes Success or Failed.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4764024"/>
            <a:ext cx="4846320" cy="1097280"/>
          </a:xfrm>
          <a:prstGeom prst="roundRect">
            <a:avLst>
              <a:gd name="adj" fmla="val 8000"/>
            </a:avLst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4873752"/>
            <a:ext cx="4526280" cy="29260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B42318"/>
                </a:solidFill>
                <a:latin typeface="Calibri"/>
              </a:rPr>
              <a:t>If Failed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5202936"/>
            <a:ext cx="4526280" cy="566928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200" b="0">
                <a:solidFill>
                  <a:srgbClr val="5A564E"/>
                </a:solidFill>
                <a:latin typeface="Calibri"/>
              </a:rPr>
              <a:t>Side Peek → Sync_Message → fix that field → Retry. Leave Action = Create. Do not click Update.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6.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Only if Status is Approved. Do not type in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703320" cy="2377440"/>
          </a:xfrm>
          <a:prstGeom prst="roundRect">
            <a:avLst>
              <a:gd name="adj" fmla="val 8000"/>
            </a:avLst>
          </a:prstGeom>
          <a:solidFill>
            <a:srgbClr val="DFF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71600"/>
            <a:ext cx="3291840" cy="4114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F7A3A"/>
                </a:solidFill>
                <a:latin typeface="Calibri"/>
              </a:rPr>
              <a:t>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20240"/>
            <a:ext cx="3291840" cy="13716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Approved. Edit on Submission. Click Update. Leave Action as Update.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34440"/>
            <a:ext cx="3703320" cy="2377440"/>
          </a:xfrm>
          <a:prstGeom prst="roundRect">
            <a:avLst>
              <a:gd name="adj" fmla="val 8000"/>
            </a:avLst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1371600"/>
            <a:ext cx="3291840" cy="4114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E87722"/>
                </a:solidFill>
                <a:latin typeface="Calibri"/>
              </a:rPr>
              <a:t>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920240"/>
            <a:ext cx="3291840" cy="13716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Pending submission. Do not Update. Wait on Status.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234440"/>
            <a:ext cx="3703320" cy="2377440"/>
          </a:xfrm>
          <a:prstGeom prst="roundRect">
            <a:avLst>
              <a:gd name="adj" fmla="val 8000"/>
            </a:avLst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7" y="1371600"/>
            <a:ext cx="3291840" cy="4114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B42318"/>
                </a:solidFill>
                <a:latin typeface="Calibri"/>
              </a:rPr>
              <a:t>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7" y="1920240"/>
            <a:ext cx="3291840" cy="13716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Create still Failed. Retry first. Do not 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40480"/>
            <a:ext cx="6949440" cy="2194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649224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If Update then Failed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60"/>
            <a:ext cx="6492240" cy="12801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500" b="0">
                <a:solidFill>
                  <a:srgbClr val="5A564E"/>
                </a:solidFill>
                <a:latin typeface="Calibri"/>
              </a:rPr>
              <a:t>Read Sync_Message. Fix that field. Click Update again. Do not click Retry on an Update.</a:t>
            </a:r>
          </a:p>
        </p:txBody>
      </p:sp>
      <p:pic>
        <p:nvPicPr>
          <p:cNvPr id="17" name="Picture 16" descr="apn-kt-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840480"/>
            <a:ext cx="4160520" cy="2194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7. REFERRAL — SALES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No Form. The invitation row already exists.</a:t>
            </a:r>
          </a:p>
        </p:txBody>
      </p:sp>
      <p:pic>
        <p:nvPicPr>
          <p:cNvPr id="5" name="Picture 4" descr="apn-kt-refer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02920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23560" y="1188720"/>
            <a:ext cx="6126480" cy="713232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353312"/>
            <a:ext cx="36576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53312"/>
            <a:ext cx="539496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Open APN AWS Invitations.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1965960"/>
            <a:ext cx="6126480" cy="713232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2130552"/>
            <a:ext cx="36576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130552"/>
            <a:ext cx="539496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Find the row (country + engagement title).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2743200"/>
            <a:ext cx="6126480" cy="713232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2907792"/>
            <a:ext cx="36576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07792"/>
            <a:ext cx="539496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Set Decision to Accept (or Reject).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520440"/>
            <a:ext cx="6126480" cy="713232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3685032"/>
            <a:ext cx="36576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Set Assignee to the account manager.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4297680"/>
            <a:ext cx="6126480" cy="713232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4462272"/>
            <a:ext cx="36576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4462272"/>
            <a:ext cx="539496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Set Sync_Status to Pending. Then wait.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5074920"/>
            <a:ext cx="6126480" cy="713232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5239512"/>
            <a:ext cx="36576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239512"/>
            <a:ext cx="539496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AWS_Opportunity_ID appears. Status still takes about six hours.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8. TWO CLOCKS AND BUTTONS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4114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Draft with ticks off does not start the 1-minute clock.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502920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After Form Submit 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029200" cy="9144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4800" b="1">
                <a:solidFill>
                  <a:srgbClr val="FFFBF7"/>
                </a:solidFill>
                <a:latin typeface="Calibri"/>
              </a:rPr>
              <a:t>1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50292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E8DFD2"/>
                </a:solidFill>
                <a:latin typeface="Calibri"/>
              </a:rPr>
              <a:t>Look at Submission → Sync_Status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515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34440"/>
            <a:ext cx="502920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After Success create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029200" cy="9144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4800" b="1">
                <a:solidFill>
                  <a:srgbClr val="FFFBF7"/>
                </a:solidFill>
                <a:latin typeface="Calibri"/>
              </a:rPr>
              <a:t>6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50292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E8DFD2"/>
                </a:solidFill>
                <a:latin typeface="Calibri"/>
              </a:rPr>
              <a:t>Look at Status → AWS_Review_Status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520440"/>
            <a:ext cx="11292840" cy="64008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685032"/>
            <a:ext cx="56692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FFFBF7"/>
                </a:solidFill>
                <a:latin typeface="Calibri"/>
              </a:rPr>
              <a:t>If this happened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85032"/>
            <a:ext cx="237744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FFFBF7"/>
                </a:solidFill>
                <a:latin typeface="Calibri"/>
              </a:rPr>
              <a:t>Click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3685032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FFFBF7"/>
                </a:solidFill>
                <a:latin typeface="Calibri"/>
              </a:rPr>
              <a:t>Leave Action 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206240"/>
            <a:ext cx="11292840" cy="6400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370832"/>
            <a:ext cx="56692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New Form submit Failed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37744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4370832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Create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892040"/>
            <a:ext cx="11292840" cy="6400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056632"/>
            <a:ext cx="56692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Approved opportunity needs a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2"/>
            <a:ext cx="237744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056632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Update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577840"/>
            <a:ext cx="11292840" cy="6400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742432"/>
            <a:ext cx="56692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Update then Failed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742432"/>
            <a:ext cx="237744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Update again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742432"/>
            <a:ext cx="246888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0">
                <a:solidFill>
                  <a:srgbClr val="1C2430"/>
                </a:solidFill>
                <a:latin typeface="Calibri"/>
              </a:rPr>
              <a:t>Update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9. FORMAT — WHY ROWS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Read Sync_Message and fix that field.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4612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Problem ≥ 20 characters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3246120" cy="1645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500" b="0">
                <a:solidFill>
                  <a:srgbClr val="5A564E"/>
                </a:solidFill>
                <a:latin typeface="Calibri"/>
              </a:rPr>
              <a:t>Customer need must be a real sentence or Sync_Status Fails.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20040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24612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Phone E.164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200400"/>
            <a:ext cx="3246120" cy="1645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500" b="0">
                <a:solidFill>
                  <a:srgbClr val="5A564E"/>
                </a:solidFill>
                <a:latin typeface="Calibri"/>
              </a:rPr>
              <a:t>+601121555525  — plus, country code, no spaces.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280160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9" y="1508760"/>
            <a:ext cx="320040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E87722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011680"/>
            <a:ext cx="3246120" cy="10058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Launched 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3200400"/>
            <a:ext cx="3246120" cy="164592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500" b="0">
                <a:solidFill>
                  <a:srgbClr val="5A564E"/>
                </a:solidFill>
                <a:latin typeface="Calibri"/>
              </a:rPr>
              <a:t>You must have AWS Account ID. Missing ID = Failed.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n-kt-g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0"/>
            <a:ext cx="6254496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576072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10–12  EXISTING AND GO-LIVE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760720" cy="12801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3600" b="1">
                <a:solidFill>
                  <a:srgbClr val="FFFBF7"/>
                </a:solidFill>
                <a:latin typeface="Calibri"/>
              </a:rPr>
              <a:t>18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0"/>
            <a:ext cx="5669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8DFD2"/>
                </a:solidFill>
                <a:latin typeface="Calibri"/>
              </a:rPr>
              <a:t>Open opportunities from 2025 to now will be moved into this Base. Do not recreate those deals.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FFFBF7"/>
                </a:solidFill>
                <a:latin typeface="Calibri"/>
              </a:rPr>
              <a:t>All GAP sales use this Lark Base from 18 September.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8DFD2"/>
                </a:solidFill>
                <a:latin typeface="Calibri"/>
              </a:rPr>
              <a:t>Until then you may practise Add Record. Do not tick Submit on a real customer.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C8C0B4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C8C0B4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256032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100" b="1">
                <a:solidFill>
                  <a:srgbClr val="E87722"/>
                </a:solidFill>
                <a:latin typeface="Calibri"/>
              </a:rPr>
              <a:t>11. IF YOU ARE STUCK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9728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Error, bug, or unclear Sync_Message?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623560" cy="42062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21208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01  ·  APN TroubleShoot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212080" cy="64008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600" b="0">
                <a:solidFill>
                  <a:srgbClr val="FFFBF7"/>
                </a:solidFill>
                <a:latin typeface="Calibri"/>
              </a:rPr>
              <a:t>Ask in this group. Always send three things: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FBF7"/>
                </a:solidFill>
                <a:latin typeface="Calibri"/>
              </a:rPr>
              <a:t>1. Your Oppt ID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FBF7"/>
                </a:solidFill>
                <a:latin typeface="Calibri"/>
              </a:rPr>
              <a:t>2. Your Status (Sync_Status / AWS_Review_Status)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FBF7"/>
                </a:solidFill>
                <a:latin typeface="Calibri"/>
              </a:rPr>
              <a:t>3. Your Sync_Message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029200" cy="32004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300" b="1">
                <a:solidFill>
                  <a:srgbClr val="E87722"/>
                </a:solidFill>
                <a:latin typeface="Calibri"/>
              </a:rPr>
              <a:t>02  ·  APN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50292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2200" b="1">
                <a:solidFill>
                  <a:srgbClr val="1B2A4A"/>
                </a:solidFill>
                <a:latin typeface="Calibri"/>
              </a:rPr>
              <a:t>Ask Eylia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31720"/>
            <a:ext cx="5029200" cy="45720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0">
                <a:solidFill>
                  <a:srgbClr val="1C2430"/>
                </a:solidFill>
                <a:latin typeface="Calibri"/>
              </a:rPr>
              <a:t>+6016-4244515  ·  or Azib / APN champions</a:t>
            </a:r>
          </a:p>
        </p:txBody>
      </p:sp>
      <p:pic>
        <p:nvPicPr>
          <p:cNvPr id="13" name="Picture 12" descr="apn-kt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383280"/>
            <a:ext cx="5440680" cy="2057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623560"/>
            <a:ext cx="10972800" cy="365760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400" b="1">
                <a:solidFill>
                  <a:srgbClr val="B42318"/>
                </a:solidFill>
                <a:latin typeface="Calibri"/>
              </a:rPr>
              <a:t>Do not patch AWS_Review_Status by hand.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65392"/>
            <a:ext cx="868680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l"/>
            <a:r>
              <a:rPr sz="1000" b="0">
                <a:solidFill>
                  <a:srgbClr val="8A8478"/>
                </a:solidFill>
                <a:latin typeface="Calibri"/>
              </a:rPr>
              <a:t>GAP-GUIDE-2026-001  ·  Internal  ·  v1.1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565392"/>
            <a:ext cx="2194560" cy="219456"/>
          </a:xfrm>
          <a:prstGeom prst="rect">
            <a:avLst/>
          </a:prstGeom>
          <a:noFill/>
        </p:spPr>
        <p:txBody>
          <a:bodyPr wrap="square" a:anchor="t"/>
          <a:lstStyle/>
          <a:p>
            <a:pPr algn="r"/>
            <a:r>
              <a:rPr sz="1000" b="0">
                <a:solidFill>
                  <a:srgbClr val="8A8478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